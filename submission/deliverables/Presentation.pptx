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11c53394da4a53" /><Relationship Type="http://schemas.openxmlformats.org/officeDocument/2006/relationships/extended-properties" Target="/docProps/app.xml" Id="R571dafb3d9e64ae0" /><Relationship Type="http://schemas.openxmlformats.org/officeDocument/2006/relationships/officeDocument" Target="/ppt/presentation.xml" Id="Rc6a9910e117d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0921c9a654842"/>
  </p:sldMasterIdLst>
  <p:notesMasterIdLst>
    <p:notesMasterId xmlns:r="http://schemas.openxmlformats.org/officeDocument/2006/relationships" r:id="Rbbcbb73b11964531"/>
  </p:notesMasterIdLst>
  <p:sldIdLst>
    <p:sldId xmlns:r="http://schemas.openxmlformats.org/officeDocument/2006/relationships" id="256" r:id="R6d25850ef71d446a"/>
    <p:sldId xmlns:r="http://schemas.openxmlformats.org/officeDocument/2006/relationships" id="257" r:id="R5f010dbedb60477f"/>
    <p:sldId xmlns:r="http://schemas.openxmlformats.org/officeDocument/2006/relationships" id="258" r:id="Ra4fb4ab472c6447a"/>
    <p:sldId xmlns:r="http://schemas.openxmlformats.org/officeDocument/2006/relationships" id="259" r:id="R1a04c088a8534509"/>
    <p:sldId xmlns:r="http://schemas.openxmlformats.org/officeDocument/2006/relationships" id="260" r:id="Re4e04469036c4c8a"/>
    <p:sldId xmlns:r="http://schemas.openxmlformats.org/officeDocument/2006/relationships" id="261" r:id="Rc361170f4af54a52"/>
    <p:sldId xmlns:r="http://schemas.openxmlformats.org/officeDocument/2006/relationships" id="262" r:id="R1b46630a28ea443e"/>
    <p:sldId xmlns:r="http://schemas.openxmlformats.org/officeDocument/2006/relationships" id="263" r:id="R062b9667bb434cc8"/>
    <p:sldId xmlns:r="http://schemas.openxmlformats.org/officeDocument/2006/relationships" id="264" r:id="R5c6c3e3fc9d7425f"/>
    <p:sldId xmlns:r="http://schemas.openxmlformats.org/officeDocument/2006/relationships" id="265" r:id="R69c55a28fea24118"/>
    <p:sldId xmlns:r="http://schemas.openxmlformats.org/officeDocument/2006/relationships" id="266" r:id="R081515f4d0c6432e"/>
    <p:sldId xmlns:r="http://schemas.openxmlformats.org/officeDocument/2006/relationships" id="267" r:id="Rd38ccc2621a24c21"/>
    <p:sldId xmlns:r="http://schemas.openxmlformats.org/officeDocument/2006/relationships" id="268" r:id="R922ed9c6cfbe48ff"/>
    <p:sldId xmlns:r="http://schemas.openxmlformats.org/officeDocument/2006/relationships" id="269" r:id="Reea8dfa84d0d4441"/>
    <p:sldId xmlns:r="http://schemas.openxmlformats.org/officeDocument/2006/relationships" id="270" r:id="R55ba32b801bf4f0c"/>
    <p:sldId xmlns:r="http://schemas.openxmlformats.org/officeDocument/2006/relationships" id="271" r:id="Rb7888510d0e54d75"/>
    <p:sldId xmlns:r="http://schemas.openxmlformats.org/officeDocument/2006/relationships" id="272" r:id="R57efb7cc324b4275"/>
    <p:sldId xmlns:r="http://schemas.openxmlformats.org/officeDocument/2006/relationships" id="273" r:id="R93cef89b40ab4c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d0e559c2224494" /><Relationship Type="http://schemas.openxmlformats.org/officeDocument/2006/relationships/slideMaster" Target="/ppt/slideMasters/slideMaster1.xml" Id="Rbe30921c9a654842" /><Relationship Type="http://schemas.openxmlformats.org/officeDocument/2006/relationships/notesMaster" Target="/ppt/notesMasters/notesMaster1.xml" Id="Rbbcbb73b11964531" /><Relationship Type="http://schemas.openxmlformats.org/officeDocument/2006/relationships/presProps" Target="/ppt/presProps.xml" Id="R814e7498de164c9d" /><Relationship Type="http://schemas.openxmlformats.org/officeDocument/2006/relationships/tableStyles" Target="/ppt/tableStyles.xml" Id="R481d346caee946bd" /><Relationship Type="http://schemas.openxmlformats.org/officeDocument/2006/relationships/slide" Target="/ppt/slides/slide1.xml" Id="R6d25850ef71d446a" /><Relationship Type="http://schemas.openxmlformats.org/officeDocument/2006/relationships/slide" Target="/ppt/slides/slide2.xml" Id="R5f010dbedb60477f" /><Relationship Type="http://schemas.openxmlformats.org/officeDocument/2006/relationships/slide" Target="/ppt/slides/slide3.xml" Id="Ra4fb4ab472c6447a" /><Relationship Type="http://schemas.openxmlformats.org/officeDocument/2006/relationships/slide" Target="/ppt/slides/slide4.xml" Id="R1a04c088a8534509" /><Relationship Type="http://schemas.openxmlformats.org/officeDocument/2006/relationships/slide" Target="/ppt/slides/slide5.xml" Id="Re4e04469036c4c8a" /><Relationship Type="http://schemas.openxmlformats.org/officeDocument/2006/relationships/slide" Target="/ppt/slides/slide6.xml" Id="Rc361170f4af54a52" /><Relationship Type="http://schemas.openxmlformats.org/officeDocument/2006/relationships/slide" Target="/ppt/slides/slide7.xml" Id="R1b46630a28ea443e" /><Relationship Type="http://schemas.openxmlformats.org/officeDocument/2006/relationships/slide" Target="/ppt/slides/slide8.xml" Id="R062b9667bb434cc8" /><Relationship Type="http://schemas.openxmlformats.org/officeDocument/2006/relationships/slide" Target="/ppt/slides/slide9.xml" Id="R5c6c3e3fc9d7425f" /><Relationship Type="http://schemas.openxmlformats.org/officeDocument/2006/relationships/slide" Target="/ppt/slides/slide10.xml" Id="R69c55a28fea24118" /><Relationship Type="http://schemas.openxmlformats.org/officeDocument/2006/relationships/slide" Target="/ppt/slides/slide11.xml" Id="R081515f4d0c6432e" /><Relationship Type="http://schemas.openxmlformats.org/officeDocument/2006/relationships/slide" Target="/ppt/slides/slide12.xml" Id="Rd38ccc2621a24c21" /><Relationship Type="http://schemas.openxmlformats.org/officeDocument/2006/relationships/slide" Target="/ppt/slides/slide13.xml" Id="R922ed9c6cfbe48ff" /><Relationship Type="http://schemas.openxmlformats.org/officeDocument/2006/relationships/slide" Target="/ppt/slides/slide14.xml" Id="Reea8dfa84d0d4441" /><Relationship Type="http://schemas.openxmlformats.org/officeDocument/2006/relationships/slide" Target="/ppt/slides/slide15.xml" Id="R55ba32b801bf4f0c" /><Relationship Type="http://schemas.openxmlformats.org/officeDocument/2006/relationships/slide" Target="/ppt/slides/slide16.xml" Id="Rb7888510d0e54d75" /><Relationship Type="http://schemas.openxmlformats.org/officeDocument/2006/relationships/slide" Target="/ppt/slides/slide17.xml" Id="R57efb7cc324b4275" /><Relationship Type="http://schemas.openxmlformats.org/officeDocument/2006/relationships/slide" Target="/ppt/slides/slide18.xml" Id="R93cef89b40ab4c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95c3e48e29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a3f59851764099" /><Relationship Type="http://schemas.openxmlformats.org/officeDocument/2006/relationships/notesMaster" Target="/ppt/notesMasters/notesMaster1.xml" Id="Rb973f0c157f9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98a331213497b" /><Relationship Type="http://schemas.openxmlformats.org/officeDocument/2006/relationships/notesMaster" Target="/ppt/notesMasters/notesMaster1.xml" Id="R2357fc54ef2347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5b34c7c5ec4668" /><Relationship Type="http://schemas.openxmlformats.org/officeDocument/2006/relationships/notesMaster" Target="/ppt/notesMasters/notesMaster1.xml" Id="R0373d4c80c27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37b2130af4263" /><Relationship Type="http://schemas.openxmlformats.org/officeDocument/2006/relationships/notesMaster" Target="/ppt/notesMasters/notesMaster1.xml" Id="R239782da8664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51c33c791b4d11" /><Relationship Type="http://schemas.openxmlformats.org/officeDocument/2006/relationships/notesMaster" Target="/ppt/notesMasters/notesMaster1.xml" Id="R6c86ad12ad1e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ec940db3df407d" /><Relationship Type="http://schemas.openxmlformats.org/officeDocument/2006/relationships/notesMaster" Target="/ppt/notesMasters/notesMaster1.xml" Id="Rdb7d2009b1ea44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cf9c3945f40d6" /><Relationship Type="http://schemas.openxmlformats.org/officeDocument/2006/relationships/notesMaster" Target="/ppt/notesMasters/notesMaster1.xml" Id="R074449cc861343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42ae46261b4578" /><Relationship Type="http://schemas.openxmlformats.org/officeDocument/2006/relationships/notesMaster" Target="/ppt/notesMasters/notesMaster1.xml" Id="R76f234077d994a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8e24e3ad1c47b6" /><Relationship Type="http://schemas.openxmlformats.org/officeDocument/2006/relationships/notesMaster" Target="/ppt/notesMasters/notesMaster1.xml" Id="R5ad5c750f6c44e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5aae0329614b5e" /><Relationship Type="http://schemas.openxmlformats.org/officeDocument/2006/relationships/notesMaster" Target="/ppt/notesMasters/notesMaster1.xml" Id="R0c1fcb1565de4e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50cb93687a4c43" /><Relationship Type="http://schemas.openxmlformats.org/officeDocument/2006/relationships/notesMaster" Target="/ppt/notesMasters/notesMaster1.xml" Id="R2129cdfd395044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183408d67a4ab8" /><Relationship Type="http://schemas.openxmlformats.org/officeDocument/2006/relationships/notesMaster" Target="/ppt/notesMasters/notesMaster1.xml" Id="R8f2b9177717240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55fd891c044e0d" /><Relationship Type="http://schemas.openxmlformats.org/officeDocument/2006/relationships/notesMaster" Target="/ppt/notesMasters/notesMaster1.xml" Id="Rffa45bd3595b4a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a8c4a90ac40fb" /><Relationship Type="http://schemas.openxmlformats.org/officeDocument/2006/relationships/notesMaster" Target="/ppt/notesMasters/notesMaster1.xml" Id="Rb9113636b7b848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117d3711c840f3" /><Relationship Type="http://schemas.openxmlformats.org/officeDocument/2006/relationships/notesMaster" Target="/ppt/notesMasters/notesMaster1.xml" Id="Re39c2010834b4a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0fc0b43ec84c3a" /><Relationship Type="http://schemas.openxmlformats.org/officeDocument/2006/relationships/notesMaster" Target="/ppt/notesMasters/notesMaster1.xml" Id="Rf5b92231ed7848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4ce1f8501c4833" /><Relationship Type="http://schemas.openxmlformats.org/officeDocument/2006/relationships/notesMaster" Target="/ppt/notesMasters/notesMaster1.xml" Id="Rba559e0d134c4c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9d8e2c30014d8b" /><Relationship Type="http://schemas.openxmlformats.org/officeDocument/2006/relationships/notesMaster" Target="/ppt/notesMasters/notesMaster1.xml" Id="R625b7dec56a6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and demonstration based on the repository workbook. This deck covers the classical and neural comparison. It reports retrospective internal benchmarks and does not assert insurer deployment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Health Insurance Fraud Claims.xlsx. The workbook origin and currency are undocumented.</a:t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Preprocessing follows training-only fitting. Source: https://scikit-learn.org/stable/common_pitfalls.html</a:t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weighted loss: https://docs.pytorch.org/docs/stable/generated/torch.nn.BCEWithLogitsLoss.html. Residual MLP is a project implementation, not a reproduction of a published baseline.</a:t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https://scikit-learn.org/stable/modules/model_evaluation.html and https://scikit-learn.org/stable/modules/generated/sklearn.metrics.average_precision_score.html. AP uses step weighting, not trapezoidal PR integration.</a:t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project workbook and submission/results artifacts; scikit-learn AP, model evaluation and common pitfalls documentation; PyTorch BCEWithLogitsLoss; Gorishniy et al., Revisiting Deep Learning Models for Tabular Data, NeurIPS 2021. https://proceedings.neurips.cc/paper_files/paper/2021/hash/9d86d83f925f2149e9edb0ac3b49229c-Abstract.html</a:t>
            </a:r>
          </a:p>
          <a:p xmlns:a="http://schemas.openxmlformats.org/drawingml/2006/main">
            <a:r>
              <a:t>Evidence: submission/results/metrics.csv and predictions.csv. Measured 20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63324471947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91bc6b1504f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7b96bc0944c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e356a88184a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e1983c0a44d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0332209a040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600437-9D3C-4B1E-9ADA-4403AE580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440CFC-C4A1-406A-BD3F-76B68B0168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0510A5-438D-48C0-B98F-07810790C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D76624-01BB-40D4-A03B-B2D0D32B3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A5FA75-72FB-4A1A-9FA2-113F2773E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AD7AC0-4616-4D31-B00E-5C1F118D91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FC3319-7A6F-48B7-91FF-59C8C5A9D5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D699C8-25BD-41E6-8C49-0A1F1846F2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2DD7AC-5ABE-4E90-983D-4E17F6A31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282DE6-6019-4F21-A8FF-09B0C048A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c5c26434f4287" /><Relationship Type="http://schemas.openxmlformats.org/officeDocument/2006/relationships/slideLayout" Target="/ppt/slideLayouts/slideLayout1.xml" Id="Rb48a5c012af44970" /><Relationship Type="http://schemas.openxmlformats.org/officeDocument/2006/relationships/slideLayout" Target="/ppt/slideLayouts/slideLayout2.xml" Id="R5b3c0203275346b3" /><Relationship Type="http://schemas.openxmlformats.org/officeDocument/2006/relationships/slideLayout" Target="/ppt/slideLayouts/slideLayout3.xml" Id="R1876681f9d0347b4" /><Relationship Type="http://schemas.openxmlformats.org/officeDocument/2006/relationships/slideLayout" Target="/ppt/slideLayouts/slideLayout4.xml" Id="R1c35e8f7995a4e35" /><Relationship Type="http://schemas.openxmlformats.org/officeDocument/2006/relationships/slideLayout" Target="/ppt/slideLayouts/slideLayout5.xml" Id="R97f4c1b25fa440e1" /><Relationship Type="http://schemas.openxmlformats.org/officeDocument/2006/relationships/slideLayout" Target="/ppt/slideLayouts/slideLayout6.xml" Id="R33d04b2fcce24f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a5c012af44970"/>
    <p:sldLayoutId xmlns:r="http://schemas.openxmlformats.org/officeDocument/2006/relationships" id="2147483650" r:id="R5b3c0203275346b3"/>
    <p:sldLayoutId xmlns:r="http://schemas.openxmlformats.org/officeDocument/2006/relationships" id="2147483651" r:id="R1876681f9d0347b4"/>
    <p:sldLayoutId xmlns:r="http://schemas.openxmlformats.org/officeDocument/2006/relationships" id="2147483652" r:id="R1c35e8f7995a4e35"/>
    <p:sldLayoutId xmlns:r="http://schemas.openxmlformats.org/officeDocument/2006/relationships" id="2147483653" r:id="R97f4c1b25fa440e1"/>
    <p:sldLayoutId xmlns:r="http://schemas.openxmlformats.org/officeDocument/2006/relationships" id="2147483654" r:id="R33d04b2fcce24f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ef3e929464fa6" /><Relationship Type="http://schemas.openxmlformats.org/officeDocument/2006/relationships/notesSlide" Target="/ppt/notesSlides/notesSlide1.xml" Id="Rc356e65d5b2a48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d922797494974" /><Relationship Type="http://schemas.openxmlformats.org/officeDocument/2006/relationships/notesSlide" Target="/ppt/notesSlides/notesSlide2.xml" Id="Rbca0175f95d84f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f934e9d8549a1" /><Relationship Type="http://schemas.openxmlformats.org/officeDocument/2006/relationships/notesSlide" Target="/ppt/notesSlides/notesSlide3.xml" Id="R3a2041f20091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5fbed61c248d1" /><Relationship Type="http://schemas.openxmlformats.org/officeDocument/2006/relationships/notesSlide" Target="/ppt/notesSlides/notesSlide4.xml" Id="Rc279cc81c82943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d1f8f218747f9" /><Relationship Type="http://schemas.openxmlformats.org/officeDocument/2006/relationships/notesSlide" Target="/ppt/notesSlides/notesSlide5.xml" Id="R3623d697d4ab47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601967978473f" /><Relationship Type="http://schemas.openxmlformats.org/officeDocument/2006/relationships/notesSlide" Target="/ppt/notesSlides/notesSlide6.xml" Id="Red0e9ce3a28e41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21826e1a34f74" /><Relationship Type="http://schemas.openxmlformats.org/officeDocument/2006/relationships/notesSlide" Target="/ppt/notesSlides/notesSlide7.xml" Id="Rae7e059b8ccf49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be22f40cd434e" /><Relationship Type="http://schemas.openxmlformats.org/officeDocument/2006/relationships/chart" Target="/ppt/slides/charts/chart1.xml" Id="R38039785a6564142" /><Relationship Type="http://schemas.openxmlformats.org/officeDocument/2006/relationships/notesSlide" Target="/ppt/notesSlides/notesSlide8.xml" Id="R5c5c810c6a4341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84fe063544046" /><Relationship Type="http://schemas.openxmlformats.org/officeDocument/2006/relationships/notesSlide" Target="/ppt/notesSlides/notesSlide9.xml" Id="Rba269e1ad01c4c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37f1f744346da" /><Relationship Type="http://schemas.openxmlformats.org/officeDocument/2006/relationships/notesSlide" Target="/ppt/notesSlides/notesSlide10.xml" Id="Rac2ca30b7a0844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f0f9090194e2d" /><Relationship Type="http://schemas.openxmlformats.org/officeDocument/2006/relationships/notesSlide" Target="/ppt/notesSlides/notesSlide11.xml" Id="Reb86931e7d2441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bcabffa484cb2" /><Relationship Type="http://schemas.openxmlformats.org/officeDocument/2006/relationships/notesSlide" Target="/ppt/notesSlides/notesSlide12.xml" Id="Rb8c217085c5b4e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308dc0be04ea3" /><Relationship Type="http://schemas.openxmlformats.org/officeDocument/2006/relationships/chart" Target="/ppt/slides/charts/chart2.xml" Id="Rc0fb057341cc45bd" /><Relationship Type="http://schemas.openxmlformats.org/officeDocument/2006/relationships/notesSlide" Target="/ppt/notesSlides/notesSlide13.xml" Id="R86d59a29dfcb44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7941ef6634693" /><Relationship Type="http://schemas.openxmlformats.org/officeDocument/2006/relationships/chart" Target="/ppt/slides/charts/chart3.xml" Id="R384cfb0ea2074d9d" /><Relationship Type="http://schemas.openxmlformats.org/officeDocument/2006/relationships/notesSlide" Target="/ppt/notesSlides/notesSlide14.xml" Id="R6da50d430ab849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fe7dbd6a345be" /><Relationship Type="http://schemas.openxmlformats.org/officeDocument/2006/relationships/notesSlide" Target="/ppt/notesSlides/notesSlide15.xml" Id="Ra0e233fa83ca41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0a378fd42436e" /><Relationship Type="http://schemas.openxmlformats.org/officeDocument/2006/relationships/image" Target="/ppt/media/image.jpeg" Id="R456c7f684ca9475d" /><Relationship Type="http://schemas.openxmlformats.org/officeDocument/2006/relationships/notesSlide" Target="/ppt/notesSlides/notesSlide16.xml" Id="R182636362c3345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a838a84f0f4e56" /><Relationship Type="http://schemas.openxmlformats.org/officeDocument/2006/relationships/notesSlide" Target="/ppt/notesSlides/notesSlide17.xml" Id="R4b301286fc5843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e72a1e0874eea" /><Relationship Type="http://schemas.openxmlformats.org/officeDocument/2006/relationships/notesSlide" Target="/ppt/notesSlides/notesSlide18.xml" Id="R98b88b7df3fd4a2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Original 29 features</c:v>
          </c:tx>
          <c:spPr>
            <a:solidFill xmlns:a="http://schemas.openxmlformats.org/drawingml/2006/main">
              <a:srgbClr val="8BA5A0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XGB</c:v>
                </c:pt>
                <c:pt idx="3">
                  <c:v>SVM</c:v>
                </c:pt>
                <c:pt idx="4">
                  <c:v>HGB</c:v>
                </c:pt>
                <c:pt idx="5">
                  <c:v>MLP</c:v>
                </c:pt>
                <c:pt idx="6">
                  <c:v>ResMLP</c:v>
                </c:pt>
                <c:pt idx="7">
                  <c:v>CNN</c:v>
                </c:pt>
              </c:strCache>
            </c:str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0.918648</c:v>
                </c:pt>
                <c:pt idx="1">
                  <c:v>0.99939</c:v>
                </c:pt>
                <c:pt idx="2">
                  <c:v>1</c:v>
                </c:pt>
                <c:pt idx="3">
                  <c:v>0.92518</c:v>
                </c:pt>
                <c:pt idx="4">
                  <c:v>0.976481</c:v>
                </c:pt>
                <c:pt idx="5">
                  <c:v>0.953751</c:v>
                </c:pt>
                <c:pt idx="6">
                  <c:v>0.956667</c:v>
                </c:pt>
                <c:pt idx="7">
                  <c:v>0.988191</c:v>
                </c:pt>
              </c:numCache>
            </c:numRef>
          </c:val>
        </c:ser>
        <c:ser>
          <c:idx val="1"/>
          <c:order val="1"/>
          <c:tx>
            <c:v>Intake without Cluster</c:v>
          </c:tx>
          <c:spPr>
            <a:solidFill xmlns:a="http://schemas.openxmlformats.org/drawingml/2006/main">
              <a:srgbClr val="D95C31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XGB</c:v>
                </c:pt>
                <c:pt idx="3">
                  <c:v>SVM</c:v>
                </c:pt>
                <c:pt idx="4">
                  <c:v>HGB</c:v>
                </c:pt>
                <c:pt idx="5">
                  <c:v>MLP</c:v>
                </c:pt>
                <c:pt idx="6">
                  <c:v>ResMLP</c:v>
                </c:pt>
                <c:pt idx="7">
                  <c:v>CNN</c:v>
                </c:pt>
              </c:strCache>
            </c:strRef>
          </c:cat>
          <c:val>
            <c:numRef>
              <c:f>'Chart Data'!$D$2:$D$9</c:f>
              <c:numCache>
                <c:formatCode>0.0</c:formatCode>
                <c:ptCount val="8"/>
                <c:pt idx="0">
                  <c:v>0.852461</c:v>
                </c:pt>
                <c:pt idx="1">
                  <c:v>1</c:v>
                </c:pt>
                <c:pt idx="2">
                  <c:v>1</c:v>
                </c:pt>
                <c:pt idx="3">
                  <c:v>0.818084</c:v>
                </c:pt>
                <c:pt idx="4">
                  <c:v>0.976481</c:v>
                </c:pt>
                <c:pt idx="5">
                  <c:v>0.886595</c:v>
                </c:pt>
                <c:pt idx="6">
                  <c:v>0.876492</c:v>
                </c:pt>
                <c:pt idx="7">
                  <c:v>0.966672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AF9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B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Chronological test F1</c:v>
          </c:tx>
          <c:spPr>
            <a:solidFill xmlns:a="http://schemas.openxmlformats.org/drawingml/2006/main">
              <a:srgbClr val="315B68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XGB</c:v>
                </c:pt>
                <c:pt idx="3">
                  <c:v>SVM</c:v>
                </c:pt>
                <c:pt idx="4">
                  <c:v>HGB</c:v>
                </c:pt>
                <c:pt idx="5">
                  <c:v>MLP</c:v>
                </c:pt>
                <c:pt idx="6">
                  <c:v>ResMLP</c:v>
                </c:pt>
                <c:pt idx="7">
                  <c:v>CNN</c:v>
                </c:pt>
              </c:strCache>
            </c:str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0.739726</c:v>
                </c:pt>
                <c:pt idx="1">
                  <c:v>1</c:v>
                </c:pt>
                <c:pt idx="2">
                  <c:v>1</c:v>
                </c:pt>
                <c:pt idx="3">
                  <c:v>0.761905</c:v>
                </c:pt>
                <c:pt idx="4">
                  <c:v>1</c:v>
                </c:pt>
                <c:pt idx="5">
                  <c:v>0.695652</c:v>
                </c:pt>
                <c:pt idx="6">
                  <c:v>0.722892</c:v>
                </c:pt>
                <c:pt idx="7">
                  <c:v>0.810811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AF9F5"/>
        </a:solidFill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Threshold 0.5</c:v>
          </c:tx>
          <c:spPr>
            <a:solidFill xmlns:a="http://schemas.openxmlformats.org/drawingml/2006/main">
              <a:srgbClr val="8BA5A0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XGB</c:v>
                </c:pt>
                <c:pt idx="3">
                  <c:v>SVM</c:v>
                </c:pt>
                <c:pt idx="4">
                  <c:v>HGB</c:v>
                </c:pt>
                <c:pt idx="5">
                  <c:v>MLP</c:v>
                </c:pt>
                <c:pt idx="6">
                  <c:v>ResMLP</c:v>
                </c:pt>
                <c:pt idx="7">
                  <c:v>CNN</c:v>
                </c:pt>
              </c:strCache>
            </c:str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0.672414</c:v>
                </c:pt>
                <c:pt idx="1">
                  <c:v>0.987342</c:v>
                </c:pt>
                <c:pt idx="2">
                  <c:v>0.987654</c:v>
                </c:pt>
                <c:pt idx="3">
                  <c:v>0.74</c:v>
                </c:pt>
                <c:pt idx="4">
                  <c:v>0.987342</c:v>
                </c:pt>
                <c:pt idx="5">
                  <c:v>0.704762</c:v>
                </c:pt>
                <c:pt idx="6">
                  <c:v>0.804598</c:v>
                </c:pt>
                <c:pt idx="7">
                  <c:v>0.8125</c:v>
                </c:pt>
              </c:numCache>
            </c:numRef>
          </c:val>
        </c:ser>
        <c:ser>
          <c:idx val="1"/>
          <c:order val="1"/>
          <c:tx>
            <c:v>Validation-selected threshold</c:v>
          </c:tx>
          <c:spPr>
            <a:solidFill xmlns:a="http://schemas.openxmlformats.org/drawingml/2006/main">
              <a:srgbClr val="D95C31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XGB</c:v>
                </c:pt>
                <c:pt idx="3">
                  <c:v>SVM</c:v>
                </c:pt>
                <c:pt idx="4">
                  <c:v>HGB</c:v>
                </c:pt>
                <c:pt idx="5">
                  <c:v>MLP</c:v>
                </c:pt>
                <c:pt idx="6">
                  <c:v>ResMLP</c:v>
                </c:pt>
                <c:pt idx="7">
                  <c:v>CNN</c:v>
                </c:pt>
              </c:strCache>
            </c:strRef>
          </c:cat>
          <c:val>
            <c:numRef>
              <c:f>'Chart Data'!$D$2:$D$9</c:f>
              <c:numCache>
                <c:formatCode>0.0</c:formatCode>
                <c:ptCount val="8"/>
                <c:pt idx="0">
                  <c:v>0.732673</c:v>
                </c:pt>
                <c:pt idx="1">
                  <c:v>0.987342</c:v>
                </c:pt>
                <c:pt idx="2">
                  <c:v>0.987654</c:v>
                </c:pt>
                <c:pt idx="3">
                  <c:v>0.771084</c:v>
                </c:pt>
                <c:pt idx="4">
                  <c:v>0.987342</c:v>
                </c:pt>
                <c:pt idx="5">
                  <c:v>0.822222</c:v>
                </c:pt>
                <c:pt idx="6">
                  <c:v>0.831461</c:v>
                </c:pt>
                <c:pt idx="7">
                  <c:v>0.876712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AF9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B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B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9316F-9DCA-4675-929D-AB2ED0BC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Medical insurance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fraud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7EA5E-7B6D-4560-8D86-AE5ADD70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Approach 1 and Approach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691E1-D346-480D-9EDB-8D941C85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9E7"/>
                </a:solidFill>
                <a:latin typeface="Arial"/>
                <a:ea typeface="Arial"/>
                <a:cs typeface="Arial"/>
              </a:rPr>
              <a:t>Five classical models and three neural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A43B7-9F6E-46F2-8CD8-AF6BFF6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9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9E7"/>
                </a:solidFill>
                <a:latin typeface="Arial"/>
                <a:ea typeface="Arial"/>
                <a:cs typeface="Arial"/>
              </a:rPr>
              <a:t>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49174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0157F-9F1E-46A2-AA62-7A95688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Dataset and classification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1443C-991C-454E-9C64-ECE055E1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4,500 claims from the supplied workbook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8F15F-EB3E-4ED7-AF88-F0BF1EA3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BEBCD-BEF0-4780-90A1-8B25143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defPPr>
            <a:lvl1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1pPr>
            <a:lvl2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2pPr>
            <a:lvl3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3pPr>
            <a:lvl4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4pPr>
            <a:lvl5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5pPr>
            <a:lvl6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6pPr>
            <a:lvl7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7pPr>
            <a:lvl8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8pPr>
            <a:lvl9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350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D95C31"/>
                </a:solidFill>
                <a:latin typeface="Arial"/>
                <a:ea typeface="Arial"/>
                <a:cs typeface="Arial"/>
              </a:rPr>
              <a:t>270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49494-3FE2-4DDD-B298-FF405EEA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fraud labels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0D15F-EB07-43B4-BAF2-C75C4663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defPPr>
            <a:lvl1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1pPr>
            <a:lvl2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2pPr>
            <a:lvl3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3pPr>
            <a:lvl4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4pPr>
            <a:lvl5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5pPr>
            <a:lvl6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6pPr>
            <a:lvl7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7pPr>
            <a:lvl8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8pPr>
            <a:lvl9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350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315B68"/>
                </a:solidFill>
                <a:latin typeface="Arial"/>
                <a:ea typeface="Arial"/>
                <a:cs typeface="Arial"/>
              </a:rPr>
              <a:t>6.0%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F6F21-B171-4F17-A38A-CA5194DB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fraud prevalence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1E67-DCA3-44A4-B37C-D6E231E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An all-legitimate classifier reaches 94% accuracy while detecting no fraud.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C3C53-6AF1-4D2E-A58C-F588442F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No missing cells or duplicate complete rows. Dates span July 2022 to July 2024.</a:t>
            </a:r>
          </a:p>
        </p:txBody>
      </p:sp>
    </p:spTree>
    <p:extLst>
      <p:ext uri="{BB962C8B-B14F-4D97-AF65-F5344CB8AC3E}">
        <p14:creationId xmlns:p14="http://schemas.microsoft.com/office/powerpoint/2010/main" val="768996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3AB99-B27C-4D64-A4B9-AE68E3BB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Shared data partitions and feature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7A263-4E1F-4BB5-B672-6B6A3CF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Training transformations never fit on validation or test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05274-BBD5-4545-AB4B-F8105FD1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A898B-4AD0-4270-A26A-8C37C4B4F554}"/>
              </a:ext>
            </a:extLst>
          </p:cNvPr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571500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619250"/>
                <a:gridCol w="1524000"/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Claims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Fraud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3,150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675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675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959D9-095B-4DDD-81A6-59ECFCE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38350"/>
            <a:ext cx="428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5B68"/>
                </a:solidFill>
                <a:latin typeface="Arial"/>
                <a:ea typeface="Arial"/>
                <a:cs typeface="Arial"/>
              </a:rPr>
              <a:t>29 features</a:t>
            </a:r>
          </a:p>
          <a:p xmlns:a="http://schemas.openxmlformats.org/drawingml/2006/main">
            <a:pPr>
              <a:defRPr sz="217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5B68"/>
                </a:solidFill>
                <a:latin typeface="Arial"/>
                <a:ea typeface="Arial"/>
                <a:cs typeface="Arial"/>
              </a:rPr>
              <a:t>Original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81AC3-C9EC-492F-A5FE-3E4A8FD0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48025"/>
            <a:ext cx="428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C31"/>
                </a:solidFill>
                <a:latin typeface="Arial"/>
                <a:ea typeface="Arial"/>
                <a:cs typeface="Arial"/>
              </a:rPr>
              <a:t>28 features</a:t>
            </a:r>
          </a:p>
          <a:p xmlns:a="http://schemas.openxmlformats.org/drawingml/2006/main">
            <a:pPr>
              <a:defRPr sz="2175" b="1">
                <a:solidFill>
                  <a:srgbClr val="D95C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C31"/>
                </a:solidFill>
                <a:latin typeface="Arial"/>
                <a:ea typeface="Arial"/>
                <a:cs typeface="Arial"/>
              </a:rPr>
              <a:t>Intake without Cluster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2481B-CD8A-4A69-A4AF-CCB2668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Every contract excludes ClaimStatus and identifiers. The amount ablation also removes ClaimAmount.</a:t>
            </a:r>
          </a:p>
        </p:txBody>
      </p:sp>
    </p:spTree>
    <p:extLst>
      <p:ext uri="{BB962C8B-B14F-4D97-AF65-F5344CB8AC3E}">
        <p14:creationId xmlns:p14="http://schemas.microsoft.com/office/powerpoint/2010/main" val="755940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2DF9D-1E4B-453B-878F-E86B37E5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Approach 1 classical algorithms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D7805-897E-426C-A62C-A669BACD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Five existing model families, retrained on the shared partitions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6808F-5BC7-45C8-89B8-95E3BAD9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A8337-BF35-49D4-B27F-B208CC04E749}"/>
              </a:ext>
            </a:extLst>
          </p:cNvPr>
          <p:cNvGraphicFramePr/>
          <p:nvPr/>
        </p:nvGraphicFramePr>
        <p:xfrm>
          <a:off xmlns:a="http://schemas.openxmlformats.org/drawingml/2006/main" x="647700" y="1905000"/>
          <a:ext xmlns:a="http://schemas.openxmlformats.org/drawingml/2006/main" cx="108966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76581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configuration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Balanced weights, maximum 2,000 iterations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300 trees, balanced weights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100 trees, depth 6, learning rate 0.3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RBF kernel, balanced weights, sigmoid-margin 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Histogram GB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100 boosting iterations, balanced weights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FB5F5-59CE-42AB-8B37-CE19B9B5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Class weights use training data. The same encoded fields feed both approaches.</a:t>
            </a:r>
          </a:p>
        </p:txBody>
      </p:sp>
    </p:spTree>
    <p:extLst>
      <p:ext uri="{BB962C8B-B14F-4D97-AF65-F5344CB8AC3E}">
        <p14:creationId xmlns:p14="http://schemas.microsoft.com/office/powerpoint/2010/main" val="288156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1D5D5-8579-412C-9C6E-B1003ADB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Approach 2 neural algorithms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C2C6-BA7E-438E-BF9D-C4473F51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Existing MLP plus two implemented architectures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FA26D-C945-45F5-8E09-ED9CB17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92A56-4B8E-4780-9F29-C2716292E0AE}"/>
              </a:ext>
            </a:extLst>
          </p:cNvPr>
          <p:cNvGraphicFramePr/>
          <p:nvPr/>
        </p:nvGraphicFramePr>
        <p:xfrm>
          <a:off xmlns:a="http://schemas.openxmlformats.org/drawingml/2006/main" x="647700" y="1905000"/>
          <a:ext xmlns:a="http://schemas.openxmlformats.org/drawingml/2006/main" cx="1089660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7658100"/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64 and 32 dense hidden units, 20% dropout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Residual MLP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64-unit projection and two residual blocks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1D 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Kernel-3 convolutions, 8 and 16 channels, dense 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2DD60-37F8-4E6C-9617-FBB250BE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AdamW, learning rate 0.001, batch size 128 and weighted binary cross entropy.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E43EA-9BC9-463E-B444-0629DF5B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Maximum 100 epochs. Patience 15. Best checkpoint by validation AP.</a:t>
            </a:r>
          </a:p>
        </p:txBody>
      </p:sp>
    </p:spTree>
    <p:extLst>
      <p:ext uri="{BB962C8B-B14F-4D97-AF65-F5344CB8AC3E}">
        <p14:creationId xmlns:p14="http://schemas.microsoft.com/office/powerpoint/2010/main" val="360767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D8A4-68B1-4000-8950-FB6048D0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D0F88-800C-43CD-A9C9-B00428D3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One defined procedure across all eight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28790-C168-4792-A2E5-F6E92CCA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28F34-D40A-41B1-827E-F883E933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01  Fit preprocessing and model weights on training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E7C44-CC59-4B86-BFC4-814940FC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02  Select neural checkpoints by validation average precision.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C0AD1-8D1D-4FCB-8411-FD88B65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03  Choose a decision threshold that maximizes validation F1.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E8E8B-7F3E-40A4-A00F-6A2CF282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04  Freeze the model and threshold before reporting test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11777-B962-469E-B71D-575C157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Model ranking uses validation AP, then validation F1 and declared model order.</a:t>
            </a:r>
          </a:p>
        </p:txBody>
      </p:sp>
    </p:spTree>
    <p:extLst>
      <p:ext uri="{BB962C8B-B14F-4D97-AF65-F5344CB8AC3E}">
        <p14:creationId xmlns:p14="http://schemas.microsoft.com/office/powerpoint/2010/main" val="1100666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9CC79-36B9-403C-A490-2D96EC3B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Evaluation formulas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F7DB2-A670-4374-8338-0970B71E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Fraud is the positive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70ED3-0240-41B0-807D-749FFA59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53B38-A9B2-4983-99B2-057FBFBE4DF7}"/>
              </a:ext>
            </a:extLst>
          </p:cNvPr>
          <p:cNvGraphicFramePr/>
          <p:nvPr/>
        </p:nvGraphicFramePr>
        <p:xfrm>
          <a:off xmlns:a="http://schemas.openxmlformats.org/drawingml/2006/main" x="647700" y="1905000"/>
          <a:ext xmlns:a="http://schemas.openxmlformats.org/drawingml/2006/main" cx="108966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7848600"/>
              </a:tblGrid>
              <a:tr h="563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(TP + TN) / all claims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TP / (TP + FP)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TP / (TP + FN)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2 TP / (2 TP + FP + FN)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Average 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Sum of recall increments × corresponding 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7D6DF-F530-405A-8868-870F1C11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AP and ROC AUC evaluate ranking. Precision, recall and F1 depend on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1144825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D5018-3C8F-4EC8-B40C-8D7FD755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Original and intake model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4ED64-5C67-4989-B64D-C2FEF82C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Test average precision on the same random partitions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59BE4-39EF-47B1-A3C2-E6980C98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2BE0A69-0783-48C8-86D7-EEDAB7FFF9E0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039785a656414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B288A-D31E-495A-8313-1DEE94CB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Removing Cluster preserves strong tree performance. Other model families lose ranking quality.</a:t>
            </a:r>
          </a:p>
        </p:txBody>
      </p:sp>
    </p:spTree>
    <p:extLst>
      <p:ext uri="{BB962C8B-B14F-4D97-AF65-F5344CB8AC3E}">
        <p14:creationId xmlns:p14="http://schemas.microsoft.com/office/powerpoint/2010/main" val="2006194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2E3BD-18DB-46B9-8E91-BC2964F1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Approach 1 intake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DD2F9-986E-48BC-B869-E54F3EE3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675 claims, including 40 fraud labels. Each model uses its validation threshold.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CA2B4-4895-407F-9E0C-ED91205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5DA7D-7046-4398-9ABF-AB604419780F}"/>
              </a:ext>
            </a:extLst>
          </p:cNvPr>
          <p:cNvGraphicFramePr/>
          <p:nvPr/>
        </p:nvGraphicFramePr>
        <p:xfrm>
          <a:off xmlns:a="http://schemas.openxmlformats.org/drawingml/2006/main" x="647700" y="1905000"/>
          <a:ext xmlns:a="http://schemas.openxmlformats.org/drawingml/2006/main" cx="108966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1428750"/>
                <a:gridCol w="1666875"/>
                <a:gridCol w="1571625"/>
                <a:gridCol w="1524000"/>
                <a:gridCol w="1752600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/ FN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0.8525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60.7%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92.5%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0.7327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24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97.5%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0.9873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 /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97.6%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0.9877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 /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0.8181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74.4%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0.7711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11 /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Histogram GB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0.9765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97.5%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0.9873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 /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93AF4-EB63-4F2E-B344-0F8EEAC6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Random Forest is the selected default under the defined validation ranking rule.</a:t>
            </a:r>
          </a:p>
        </p:txBody>
      </p:sp>
    </p:spTree>
    <p:extLst>
      <p:ext uri="{BB962C8B-B14F-4D97-AF65-F5344CB8AC3E}">
        <p14:creationId xmlns:p14="http://schemas.microsoft.com/office/powerpoint/2010/main" val="484104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3D9C4-6A65-436E-9458-D310A0C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Approach 2 intake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DB75A-A855-419D-9FDF-B09AA15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The CNN has the highest neural AP. Threshold choice determines its recall.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6426F-9AD7-4276-AC06-B63BCB4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041BD-B725-43C1-9F1F-3CBE52E1E5F1}"/>
              </a:ext>
            </a:extLst>
          </p:cNvPr>
          <p:cNvGraphicFramePr/>
          <p:nvPr/>
        </p:nvGraphicFramePr>
        <p:xfrm>
          <a:off xmlns:a="http://schemas.openxmlformats.org/drawingml/2006/main" x="647700" y="1905000"/>
          <a:ext xmlns:a="http://schemas.openxmlformats.org/drawingml/2006/main" cx="108966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1428750"/>
                <a:gridCol w="1666875"/>
                <a:gridCol w="1571625"/>
                <a:gridCol w="1524000"/>
                <a:gridCol w="1752600"/>
              </a:tblGrid>
              <a:tr h="6310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/ FN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0.8866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74.0%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92.5%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0.8222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13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Residual MLP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0.8765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75.5%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92.5%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0.8315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12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1D 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97.0%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0.8767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 /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0FE59-7A79-41DE-8010-D15BCDC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The CNN follows the fixed encoded feature order, which has no inherent spatial meaning.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23F71-90E3-4F80-9820-9CB4E819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Greater architecture complexity does not establish a better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6218213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8A286-9E0A-4573-89E7-B943CF43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Random Forest operating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8F8F8-3FDE-42CE-B801-FA5A67D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Intake contract. Threshold selected on validation: 0.4167.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BEC0B-1B9D-457F-AD33-133BF004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13106-2899-40E3-896B-EB42B2CC64B2}"/>
              </a:ext>
            </a:extLst>
          </p:cNvPr>
          <p:cNvGraphicFramePr/>
          <p:nvPr/>
        </p:nvGraphicFramePr>
        <p:xfrm>
          <a:off xmlns:a="http://schemas.openxmlformats.org/drawingml/2006/main" x="647700" y="2190750"/>
          <a:ext xmlns:a="http://schemas.openxmlformats.org/drawingml/2006/main" cx="676275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190750"/>
                <a:gridCol w="2190750"/>
              </a:tblGrid>
              <a:tr h="730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class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Below threshold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Flagged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Legitimate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635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Fraud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C1B97-2893-4F0A-B6F6-B12FF952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05050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15B68"/>
                </a:solidFill>
                <a:latin typeface="Arial"/>
                <a:ea typeface="Arial"/>
                <a:cs typeface="Arial"/>
              </a:rPr>
              <a:t>100.0% precision</a:t>
            </a:r>
          </a:p>
          <a:p xmlns:a="http://schemas.openxmlformats.org/drawingml/2006/main">
            <a: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15B68"/>
                </a:solidFill>
                <a:latin typeface="Arial"/>
                <a:ea typeface="Arial"/>
                <a:cs typeface="Arial"/>
              </a:rPr>
              <a:t>97.5% recall</a:t>
            </a:r>
          </a:p>
          <a:p xmlns:a="http://schemas.openxmlformats.org/drawingml/2006/main">
            <a:pPr>
              <a:defRPr sz="2625" b="1">
                <a:solidFill>
                  <a:srgbClr val="315B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15B68"/>
                </a:solidFill>
                <a:latin typeface="Arial"/>
                <a:ea typeface="Arial"/>
                <a:cs typeface="Arial"/>
              </a:rPr>
              <a:t>0.9873 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FF1F9-E457-4552-BA14-0E46C660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Accuracy = 674 / 675 = 99.8519%. Perfect AP can coexist with a missed fraud case.</a:t>
            </a:r>
          </a:p>
        </p:txBody>
      </p:sp>
    </p:spTree>
    <p:extLst>
      <p:ext uri="{BB962C8B-B14F-4D97-AF65-F5344CB8AC3E}">
        <p14:creationId xmlns:p14="http://schemas.microsoft.com/office/powerpoint/2010/main" val="13669534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53DCF-0896-4637-9027-1A7A9F4B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Amount sensitivity changes the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573EE-09F2-42B0-9082-1CBA00AD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Test AP after removing Cluster and then claim amount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2E493-55AE-415C-91A3-0EBF500A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E400D-F4B8-4CF4-BD0B-586919AF0864}"/>
              </a:ext>
            </a:extLst>
          </p:cNvPr>
          <p:cNvGraphicFramePr/>
          <p:nvPr/>
        </p:nvGraphicFramePr>
        <p:xfrm>
          <a:off xmlns:a="http://schemas.openxmlformats.org/drawingml/2006/main" x="647700" y="1905000"/>
          <a:ext xmlns:a="http://schemas.openxmlformats.org/drawingml/2006/main" cx="10896600" cy="3762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2000250"/>
                <a:gridCol w="2333625"/>
                <a:gridCol w="3419475"/>
              </a:tblGrid>
              <a:tr h="418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 Cluster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 Cluster or amount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T w="9525">
                      <a:solidFill>
                        <a:srgbClr val="D7DFDA"/>
                      </a:solidFill>
                      <a:prstDash val="solid"/>
                    </a:lnT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315B68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0.9186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0.8525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0.2318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0.9994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0.2066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0.2128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0.9252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0.8181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0.1869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Histogram GB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0.9765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0.9765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0.2404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0.9538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0.8866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0.2303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Residual MLP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0.9567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0.8765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0.2246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FAF9F5"/>
                    </a:solidFill>
                  </a:tcPr>
                </a:tc>
              </a:tr>
              <a:tr h="41804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1D 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FDA"/>
                      </a:solidFill>
                      <a:prstDash val="solid"/>
                    </a:lnL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0.9882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0.9667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32"/>
                          </a:solidFill>
                          <a:latin typeface="Arial"/>
                          <a:ea typeface="Arial"/>
                          <a:cs typeface="Arial"/>
                        </a:rPr>
                        <a:t>0.2287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FDA"/>
                      </a:solidFill>
                      <a:prstDash val="solid"/>
                    </a:lnR>
                    <a:lnB w="9525">
                      <a:solidFill>
                        <a:srgbClr val="D7DFDA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6AD2B-7229-40C1-BEC5-7F7D3694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Random Forest AP falls from 1.0000 to 0.2066 without amount. The dataset has a strong shortcut risk.</a:t>
            </a:r>
          </a:p>
        </p:txBody>
      </p:sp>
    </p:spTree>
    <p:extLst>
      <p:ext uri="{BB962C8B-B14F-4D97-AF65-F5344CB8AC3E}">
        <p14:creationId xmlns:p14="http://schemas.microsoft.com/office/powerpoint/2010/main" val="863932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89374-649E-4036-B21C-EB1224DC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Chronological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1331D-1938-485C-A102-27D5AA48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Training ends 21 November 2023. Validation ends 10 March 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2EA40-EE3C-4C8D-98B8-D6D6B907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E97B99E-A905-4F91-A068-DB3D1AAD16DD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fb057341cc45b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2F58-1468-4B52-B53A-3220E4B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Later test period: 671 claims, including 37 fraud cases. Tree models have no errors in this internal split.</a:t>
            </a:r>
          </a:p>
        </p:txBody>
      </p:sp>
    </p:spTree>
    <p:extLst>
      <p:ext uri="{BB962C8B-B14F-4D97-AF65-F5344CB8AC3E}">
        <p14:creationId xmlns:p14="http://schemas.microsoft.com/office/powerpoint/2010/main" val="354093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557C3-5B9F-4280-B270-DD2FC9C7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Decision threshold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CC534-4E99-4756-9D93-395BDE07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Intake test F1 at the fixed and validation-selected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72640-DFCE-4255-B719-FBBC176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268B8FE-3117-44DC-BA29-1448F75A0D3C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58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4cfb0ea2074d9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7B73B-62D8-40E3-85C2-401693E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Validation tuning can help or hurt on test data. The test outcome does not choose the policy.</a:t>
            </a:r>
          </a:p>
        </p:txBody>
      </p:sp>
    </p:spTree>
    <p:extLst>
      <p:ext uri="{BB962C8B-B14F-4D97-AF65-F5344CB8AC3E}">
        <p14:creationId xmlns:p14="http://schemas.microsoft.com/office/powerpoint/2010/main" val="15879536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505C8-B0C2-400B-A786-698456EA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Uncertainty and dataset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43FE3-C11E-418F-90CD-91CD09D0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Strong internal results require careful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F0DE2-9BFB-4F5A-B693-53A3A785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D290A-6BD7-48A0-B7C1-A4B65B05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Random Forest recall interval: 92.5% to 100.0%.</a:t>
            </a:r>
          </a:p>
          <a:p xmlns:a="http://schemas.openxmlformats.org/drawingml/2006/main">
            <a: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F1 interval: 0.9610 to 1.0000.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B6A17-5705-46A4-BABA-934BCC01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The 1,000-resample bootstrap fixes the fitted model and threshold. It omits training and threshold-selection variability.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AE8B7-23C9-417E-924A-05D974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Data origin and label creation are undocumented. The random test split has appeared in earlier analyses.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35920-BEE5-4211-8C23-9617E884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Amount dependence and a degenerate AP interval prevent claims of external certainty.</a:t>
            </a:r>
          </a:p>
        </p:txBody>
      </p:sp>
    </p:spTree>
    <p:extLst>
      <p:ext uri="{BB962C8B-B14F-4D97-AF65-F5344CB8AC3E}">
        <p14:creationId xmlns:p14="http://schemas.microsoft.com/office/powerpoint/2010/main" val="5039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A5866-A46C-4718-9CE7-BC6C45A7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Claim Fraud Lab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738D7-5230-4A01-A92A-0A74BF2B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Both approaches share one working prediction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BB21B-4D08-4ECC-9432-607B10A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0A6BB-4EE4-4BC4-A66E-5C2F2C5B4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c7f684ca9475d"/>
          <a:stretch xmlns:a="http://schemas.openxmlformats.org/drawingml/2006/main"/>
        </p:blipFill>
        <p:spPr>
          <a:xfrm xmlns:a="http://schemas.openxmlformats.org/drawingml/2006/main">
            <a:off x="619125" y="1872792"/>
            <a:ext cx="7239000" cy="40744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AAA92-7A99-4644-94E5-E3C33C7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238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Select either approach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Test a claim or compare all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Switch experiment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Download prediction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F7792-146A-45FC-AE79-4279DDA3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Inference runs locally in the browser from exported fitted parameters.</a:t>
            </a:r>
          </a:p>
        </p:txBody>
      </p:sp>
    </p:spTree>
    <p:extLst>
      <p:ext uri="{BB962C8B-B14F-4D97-AF65-F5344CB8AC3E}">
        <p14:creationId xmlns:p14="http://schemas.microsoft.com/office/powerpoint/2010/main" val="3324829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8997D-0BFD-4193-80F0-C3B0CCF6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Demonstration and consistency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FFF67-6CC0-4340-9D6D-C2CBF694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A local Python API independently evaluates the saved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CFD04-F81B-43BE-B187-9E3DA12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EB3B7-21FA-4180-877A-CF9104A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1,350 preprocessing comparisons match exactly.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E3F09-8F64-4B50-96F4-CD2FD6D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10,800 browser and Python scores match within 0.000001.</a:t>
            </a:r>
          </a:p>
          <a:p xmlns:a="http://schemas.openxmlformats.org/drawingml/2006/main">
            <a: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No threshold decision mismatches.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83EB2-B34A-44C0-AB08-E7BEE1E5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128 metric rows reconcile with independent formulas.</a:t>
            </a:r>
          </a:p>
          <a:p xmlns:a="http://schemas.openxmlformats.org/drawingml/2006/main">
            <a:pPr>
              <a:defRPr sz="225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32 API prediction requests pass.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268B0-CF76-4E34-96E9-F77E5B11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Demo: load examples, test models, compare all eight, then inspect amount sensitivity.</a:t>
            </a:r>
          </a:p>
        </p:txBody>
      </p:sp>
    </p:spTree>
    <p:extLst>
      <p:ext uri="{BB962C8B-B14F-4D97-AF65-F5344CB8AC3E}">
        <p14:creationId xmlns:p14="http://schemas.microsoft.com/office/powerpoint/2010/main" val="2123036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FE30-F093-4D3C-A6D5-3F259AF2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2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DB6C4-AD51-4C58-B839-7473D97E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9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A reproducible comparison and model-testing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F223D-5B65-415A-A8F2-8345D6BA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1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E902F-93EC-4EDF-895D-38BE852B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Tree models lead the internal benchmark.</a:t>
            </a:r>
          </a:p>
          <a:p xmlns:a="http://schemas.openxmlformats.org/drawingml/2006/main">
            <a:pPr>
              <a:defRPr sz="247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The intake Random Forest detects 39 of 40 fraud cases with no false alerts.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6328E-1717-4DFF-80DF-D02A7371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Removing amount exposes substantial performance loss.</a:t>
            </a:r>
          </a:p>
          <a:p xmlns:a="http://schemas.openxmlformats.org/drawingml/2006/main">
            <a:pPr>
              <a:defRPr sz="23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Independent claims and documented labels are the next research priority.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0BDD-E5B8-4895-BF68-653253B2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B32"/>
                </a:solidFill>
                <a:latin typeface="Arial"/>
                <a:ea typeface="Arial"/>
                <a:cs typeface="Arial"/>
              </a:rPr>
              <a:t>Live site: claim-fraud-lab-ravi-2026.clearbell16.chatgpt.site</a:t>
            </a:r>
          </a:p>
        </p:txBody>
      </p:sp>
    </p:spTree>
    <p:extLst>
      <p:ext uri="{BB962C8B-B14F-4D97-AF65-F5344CB8AC3E}">
        <p14:creationId xmlns:p14="http://schemas.microsoft.com/office/powerpoint/2010/main" val="2039919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2026-10-20T12:45:36.6380000Z</dcterms:created>
  <dcterms:modified xsi:type="dcterms:W3CDTF">2026-10-20T12:45:36.6380000Z</dcterms:modified>
</coreProperties>
</file>